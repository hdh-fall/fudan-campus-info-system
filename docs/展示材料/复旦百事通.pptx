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7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image" Target="../media/image5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image" Target="../media/image9.png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image" Target="../media/image4.png"/><Relationship Id="rId19" Type="http://schemas.openxmlformats.org/officeDocument/2006/relationships/tags" Target="../tags/tag26.xml"/><Relationship Id="rId18" Type="http://schemas.openxmlformats.org/officeDocument/2006/relationships/image" Target="../media/image8.png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image" Target="../media/image7.png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image" Target="../media/image6.png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3A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1E243B"/>
                </a:solidFill>
              </a:defRPr>
            </a:pPr>
            <a:r>
              <a:t>复旦校园百事通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8B95A5"/>
                </a:solidFill>
              </a:defRPr>
            </a:pPr>
            <a:r>
              <a:t>数据库课程设计 · 项目展示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3D455E"/>
                </a:solidFill>
              </a:defRPr>
            </a:pPr>
            <a:r>
              <a:t>小组成员：洪东浩、马天行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3D455E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技术选型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37160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155448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核心数据库设计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1752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ER图与关系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83464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971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主键外键约束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283464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2971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79" y="301752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关键SQL查询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9768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功能演示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9768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434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480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测试与问题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429768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9" y="4434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4F6FDA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79" y="4480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243B"/>
                </a:solidFill>
              </a:defRPr>
            </a:pPr>
            <a:r>
              <a:t>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📌 背景</a:t>
            </a:r>
          </a:p>
          <a:p>
            <a:pPr algn="l">
              <a:defRPr sz="1800" b="1">
                <a:solidFill>
                  <a:srgbClr val="4F6FDA"/>
                </a:solidFill>
              </a:defRPr>
            </a:pPr>
          </a:p>
          <a:p>
            <a:pPr algn="l">
              <a:defRPr sz="1500" b="0">
                <a:solidFill>
                  <a:srgbClr val="3D455E"/>
                </a:solidFill>
              </a:defRPr>
            </a:pPr>
            <a:r>
              <a:t>复旦大学拥有邯郸、枫林、张江、江湾四个校区，校园建筑、设施、课程等信息分散在不同平台。本系统统一管理校区、建筑、设施、教师、课程及校园活动等数据，提供分类浏览、关键词搜索和智能问答三种查询方式，并基于用户行为数据实现个性化推荐与可视化分析。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31520" y="347472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914400" y="3657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目标一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243B"/>
                </a:solidFill>
              </a:defRPr>
            </a:pPr>
            <a:r>
              <a:t>统一数据建模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914400" y="4572000"/>
            <a:ext cx="25196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校区/建筑/设施/课程等集中管理</a:t>
            </a: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89120" y="347472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4572000" y="3657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目标二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243B"/>
                </a:solidFill>
              </a:defRPr>
            </a:pPr>
            <a:r>
              <a:t>多维查询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72000" y="457200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分类浏览+搜索+NL2SQL智能问答</a:t>
            </a: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46720" y="347472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8229600" y="3657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目标三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229600" y="4114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243B"/>
                </a:solidFill>
              </a:defRPr>
            </a:pPr>
            <a:r>
              <a:t>数据驱动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229600" y="457200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个性化推荐+ECharts可视化分析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Spring Boot 4.0+Java 21</a:t>
            </a:r>
            <a:br/>
            <a:r>
              <a:t>Spring Data JPA</a:t>
            </a:r>
            <a:br/>
            <a:r>
              <a:t>RESTful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2062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4343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754880"/>
            <a:ext cx="161925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MySQL 8.0 / utf8mb4</a:t>
            </a:r>
            <a:br/>
            <a:r>
              <a:t>InnoDB / 11张表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Vue 3 + Element Plus</a:t>
            </a:r>
            <a:br/>
            <a:r>
              <a:t>ECharts图表</a:t>
            </a:r>
            <a:br/>
            <a:r>
              <a:t>Axios HTTP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2062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343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754880"/>
            <a:ext cx="1779905" cy="69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千问API</a:t>
            </a:r>
            <a:br/>
            <a:r>
              <a:t>NL2SQL自然语言转SQL</a:t>
            </a:r>
            <a:br/>
            <a:r>
              <a:t>规则匹配+意图识别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3625" y="1704340"/>
            <a:ext cx="3017520" cy="777240"/>
          </a:xfrm>
          <a:prstGeom prst="roundRect">
            <a:avLst/>
          </a:prstGeom>
          <a:solidFill>
            <a:srgbClr val="E8EEFF"/>
          </a:solidFill>
          <a:ln w="12700">
            <a:solidFill>
              <a:srgbClr val="4F6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5065" y="17957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43B"/>
                </a:solidFill>
              </a:defRPr>
            </a:pPr>
            <a:r>
              <a:t>前端 Vue 3 + Element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065" y="21158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D455E"/>
                </a:solidFill>
              </a:defRPr>
            </a:pPr>
            <a:r>
              <a:t>用户界面 / ECharts 图表 / 路由跳转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8345" y="1704340"/>
            <a:ext cx="3108960" cy="77724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9785" y="17957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43B"/>
                </a:solidFill>
              </a:defRPr>
            </a:pPr>
            <a:r>
              <a:t>后端 Spring Boot 4.0 + Java 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9785" y="21158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D455E"/>
                </a:solidFill>
              </a:defRPr>
            </a:pPr>
            <a:r>
              <a:t>REST API / Service 层 / JPA 持久化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3065" y="1704340"/>
            <a:ext cx="3108960" cy="777240"/>
          </a:xfrm>
          <a:prstGeom prst="roundRect">
            <a:avLst/>
          </a:prstGeom>
          <a:solidFill>
            <a:srgbClr val="E8FFE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4505" y="17957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43B"/>
                </a:solidFill>
              </a:defRPr>
            </a:pPr>
            <a:r>
              <a:t>MySQL 8.0 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4505" y="21158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D455E"/>
                </a:solidFill>
              </a:defRPr>
            </a:pPr>
            <a:r>
              <a:t>11张表 / 5视图 / 存储过程 / 触发器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26865" y="2070100"/>
            <a:ext cx="365760" cy="0"/>
          </a:xfrm>
          <a:prstGeom prst="line">
            <a:avLst/>
          </a:prstGeom>
          <a:ln w="25400">
            <a:solidFill>
              <a:srgbClr val="4F6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93025" y="2070100"/>
            <a:ext cx="274319" cy="0"/>
          </a:xfrm>
          <a:prstGeom prst="line">
            <a:avLst/>
          </a:prstGeom>
          <a:ln w="25400">
            <a:solidFill>
              <a:srgbClr val="4F6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72585" y="170434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4F6FDA"/>
                </a:solidFill>
              </a:defRPr>
            </a:pPr>
            <a:r>
              <a:t>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8744" y="170434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JPA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3625" y="2755900"/>
            <a:ext cx="3017520" cy="777240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20265" y="2847340"/>
            <a:ext cx="9042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43B"/>
                </a:solidFill>
              </a:defRPr>
            </a:pPr>
            <a:r>
              <a:t>千问 AI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5065" y="31673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D455E"/>
                </a:solidFill>
              </a:defRPr>
            </a:pPr>
            <a:r>
              <a:t>NL2SQL / 意图识别 / JSON 输出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572385" y="2435860"/>
            <a:ext cx="0" cy="27432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538345" y="2755900"/>
            <a:ext cx="6583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9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9785" y="28473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243B"/>
                </a:solidFill>
              </a:defRPr>
            </a:pPr>
            <a:r>
              <a:t>通信方式：HTTP (Axios) / RESTful JSON / JDBC (HikariCP)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9785" y="31673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</a:defRPr>
            </a:pPr>
            <a:r>
              <a:t>前端 ↔ 后端 : REST API  |  后端 ↔ 数据库 : JPA  |  后端 ↔ AI : HTTP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核心数据库设计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5A5"/>
                </a:solidFill>
              </a:defRPr>
            </a:pPr>
            <a:r>
              <a:t>11张表+5个视图+2个存储过程+1个触发器+1个定时事件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11张数据库表总览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83280" cy="502920"/>
          </a:xfrm>
          <a:prstGeom prst="round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基础信息类(4)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department 院系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campus 校区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building 建筑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facility 设施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教学资源类(4)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teacher 教师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6032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course 课程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10896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course_teacher 关联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user 用户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71600"/>
            <a:ext cx="33832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业务记录类(3)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01168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event 活动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56032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query_record 查询记录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108960"/>
            <a:ext cx="3383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43B"/>
                </a:solidFill>
              </a:defRPr>
            </a:pPr>
            <a:r>
              <a:t>query_statistics_cache 缓存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6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103327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分析增强模块：5个视图+2存储过程+1触发器+1定时事件</a:t>
            </a:r>
          </a:p>
          <a:p>
            <a:pPr algn="l">
              <a:defRPr sz="1300" b="0">
                <a:solidFill>
                  <a:srgbClr val="3D455E"/>
                </a:solidFill>
              </a:defRPr>
            </a:pPr>
            <a:r>
              <a:t>热门查询类别 / 每日查询趋势 / 活跃用户排行 / 各校区设施热度 / 课程热度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重点表设计详解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F6FDA"/>
                </a:solidFill>
              </a:defRPr>
            </a:pPr>
            <a:r>
              <a:t>course_teacher 多对多关联表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29200" cy="30175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480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CREATE TABLE course_teacher (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course_id INT,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teacher_id INT,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semester VARCHAR(20),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role VARCHAR(30) DEFAULT '主讲',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PRIMARY KEY (course_id,teacher_id,semester),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FOREIGN KEY (course_id) REFERENCES course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  ON DELETE CASCADE,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FOREIGN KEY (teacher_id) REFERENCES teacher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  ON DELETE CASCADE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复合主键</a:t>
            </a:r>
            <a:r>
              <a:rPr sz="1300">
                <a:solidFill>
                  <a:srgbClr val="3D455E"/>
                </a:solidFill>
              </a:rPr>
              <a:t>（course_id,teacher_id,semester）精确标识每次授课</a:t>
            </a:r>
            <a:endParaRPr sz="1300">
              <a:solidFill>
                <a:srgbClr val="3D455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F6FDA"/>
                </a:solidFill>
              </a:defRPr>
            </a:pPr>
            <a:r>
              <a:t>query_record 查询记录表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5029200" cy="30175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480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CREATE TABLE query_record (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record_id INT AUTO_INCREMENT PRIMARY KEY,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user_id INT NOT NULL,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question TEXT NOT NULL,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query_time DATETIME DEFAULT CURRENT_TIMESTAMP,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category VARCHAR(50),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result_summary VARCHAR(200),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used_nl2sql BOOLEAN DEFAULT FALSE,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FOREIGN KEY (user_id) REFERENCES user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  ON DELETE CASCADE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关键字段</a:t>
            </a:r>
            <a:r>
              <a:rPr sz="1300">
                <a:solidFill>
                  <a:srgbClr val="3D455E"/>
                </a:solidFill>
              </a:rPr>
              <a:t>question/category/used_nl2sql 乃推荐和分析数据基础</a:t>
            </a:r>
            <a:endParaRPr sz="13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分析缓存表 query_statistics_cache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6588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F6FDA"/>
                </a:solidFill>
              </a:defRPr>
            </a:pPr>
            <a:r>
              <a:t>以空间换时间，避免分析页面全表扫描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32004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37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TABLE query_statistics_cache (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stat_id INT AUTO_INCREMENT PRIMARY KEY,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stat_date DATE NOT NULL,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category VARCHAR(50),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query_count INT DEFAULT 0,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unique_users INT DEFAULT 0,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created_at DATETIME DEFAULT CURRENT_TIMESTAMP,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UNIQUE KEY uk_date_category (stat_date,category),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INDEX idx_stat_date (stat_date)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) ENGINE=InnoDB;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uk_date_category唯一复合索引</a:t>
            </a:r>
            <a:r>
              <a:rPr sz="1400">
                <a:solidFill>
                  <a:srgbClr val="3D455E"/>
                </a:solidFill>
              </a:rPr>
              <a:t>同日同类不重复，配合UPSERT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ON DUPLICATE KEY UPDATE</a:t>
            </a:r>
            <a:r>
              <a:rPr sz="1400">
                <a:solidFill>
                  <a:srgbClr val="3D455E"/>
                </a:solidFill>
              </a:rPr>
              <a:t>触发器插入时自动累加</a:t>
            </a:r>
            <a:endParaRPr sz="14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分析视图 v_popular_query_categories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6217920" cy="36576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6692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OR REPLACE VIEW v_popular_query_categories AS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SELECT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category,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COUNT(*) AS query_count,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COUNT(DISTINCT user_id) AS unique_users,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MAX(query_time) AS last_query_time,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ROUND(COUNT(*) * 100.0 / (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  SELECT COUNT(*) FROM query_record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), 2) AS percentage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FROM query_record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WHERE category IS NOT NULL AND category != ''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GROUP BY category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ORDER BY query_count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子查询计算占比</a:t>
            </a:r>
            <a:r>
              <a:rPr sz="1400">
                <a:solidFill>
                  <a:srgbClr val="3D455E"/>
                </a:solidFill>
              </a:rPr>
              <a:t>每个类别占总查询数的百分比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DISTINCT user_id</a:t>
            </a:r>
            <a:r>
              <a:rPr sz="1400">
                <a:solidFill>
                  <a:srgbClr val="3D455E"/>
                </a:solidFill>
              </a:rPr>
              <a:t>统计独立用户，避免单用户刷屏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前端调用</a:t>
            </a:r>
            <a:r>
              <a:rPr sz="1400">
                <a:solidFill>
                  <a:srgbClr val="3D455E"/>
                </a:solidFill>
              </a:rPr>
              <a:t>SELECT * FROM v_popular_query_categories</a:t>
            </a:r>
            <a:endParaRPr sz="14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更多分析视图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v_daily_query_trend 每日趋势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029200" cy="2743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4805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VIEW v_daily_query_trend AS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SELECT DATE(query_time) AS query_date,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COUNT(*) AS daily_count,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COUNT(DISTINCT user_id) AS unique_users,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SUM(CASE WHEN used_nl2sql=TRUE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THEN 1 ELSE 0 END) AS nl2sql_count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FROM query_record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GROUP BY DATE(query_time)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ORDER BY query_date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CASE WHEN统计</a:t>
            </a:r>
            <a:r>
              <a:rPr sz="1300">
                <a:solidFill>
                  <a:srgbClr val="3D455E"/>
                </a:solidFill>
              </a:rPr>
              <a:t>区分NL2SQL与手动查询数量</a:t>
            </a:r>
            <a:endParaRPr sz="1300">
              <a:solidFill>
                <a:srgbClr val="3D455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v_active_users 活跃用户排行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32004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480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VIEW v_active_users AS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SELECT u.user_id,u.username,u.name,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COUNT(qr.record_id) AS total_queries,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COUNT(DISTINCT qr.category) AS categories_explored,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DATEDIFF(MAX(qr.query_time),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MIN(qr.query_time)) AS active_days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FROM user u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LEFT JOIN query_record qr ON u.user_id=qr.user_id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GROUP BY u.user_id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HAVING total_queries&gt;0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ORDER BY total_queries DESC;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DATEDIFF计算活跃天数</a:t>
            </a:r>
            <a:r>
              <a:rPr sz="1300">
                <a:solidFill>
                  <a:srgbClr val="3D455E"/>
                </a:solidFill>
              </a:rPr>
              <a:t>HAVING过滤无查询记录的用户</a:t>
            </a:r>
            <a:endParaRPr sz="13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触发器 trg_after_query_insert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6217920" cy="41148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6692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TRIGGER trg_after_query_insert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AFTER INSERT ON query_record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FOR EACH ROW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INSERT INTO query_statistics_cache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(stat_date,category,query_count,unique_users)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VALUES (DATE(NEW.query_time),NEW.category,1,1)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ON DUPLICATE KEY UPDATE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query_count=query_count+1,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unique_users=(SELECT COUNT(DISTINCT user_id)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FROM query_record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WHERE DATE(query_time)=DATE(NEW.query_time)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  AND category=NEW.category);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END;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AFTER INSERT自动触发</a:t>
            </a:r>
            <a:r>
              <a:rPr sz="1400">
                <a:solidFill>
                  <a:srgbClr val="3D455E"/>
                </a:solidFill>
              </a:rPr>
              <a:t>ON DUPLICATE KEY当日已存在则累加而非覆盖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子查询更新用户数</a:t>
            </a:r>
            <a:r>
              <a:rPr sz="1400">
                <a:solidFill>
                  <a:srgbClr val="3D455E"/>
                </a:solidFill>
              </a:rPr>
              <a:t>同一用户多次查询不重复计数</a:t>
            </a:r>
            <a:endParaRPr sz="14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存储过程与定时事件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617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F6FDA"/>
                </a:solidFill>
              </a:defRPr>
            </a:pPr>
            <a:r>
              <a:t>sp_update_query_statistics 批量统计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029200" cy="36576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7845"/>
            <a:ext cx="4480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PROCEDURE sp_update_query_statistics(IN p_date DATE)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DECLARE cur_stats CURSOR FOR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SELECT category,COUNT(*),COUNT(DISTINCT user_id)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FROM query_record WHERE DATE(query_time)=p_date GROUP BY category;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OPEN cur_stats;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read_loop: LOOP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FETCH cur_stats INTO ...; IF done THEN LEAVE; END IF;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INSERT INTO query_statistics_cache VALUES(...)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ON DUPLICATE KEY UPDATE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query_count=v_count,unique_users=v_users;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END LOOP; CLOSE cur_stats;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END;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593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游标循环逐类别处理</a:t>
            </a:r>
            <a:r>
              <a:rPr sz="1300">
                <a:solidFill>
                  <a:srgbClr val="3D455E"/>
                </a:solidFill>
              </a:rPr>
              <a:t>evt_daily_statistics_update每日00:00定时调用</a:t>
            </a:r>
            <a:endParaRPr sz="1300">
              <a:solidFill>
                <a:srgbClr val="3D455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F6FDA"/>
                </a:solidFill>
              </a:defRPr>
            </a:pPr>
            <a:r>
              <a:t>sp_get_personalized_recommendations 推荐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32004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CREATE PROCEDURE sp_get_personalized_recommendations(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IN p_user_id INT, IN p_limit INT)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CREATE TEMPORARY TABLE temp_prefs AS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SELECT category,COUNT(*) AS pref FROM query_record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WHERE user_id=p_user_id GROUP BY category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ORDER BY pref DESC LIMIT 3;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SELECT e.name,e.event_time,e.location_desc FROM event e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WHERE e.category IN (SELECT category FROM temp_prefs)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AND e.event_time&gt;=NOW() ORDER BY e.event_time LIMIT p_limit;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DROP TEMPORARY TABLE temp_prefs;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END;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937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临时表存储用户TOP3偏好类别</a:t>
            </a:r>
            <a:r>
              <a:rPr sz="1300">
                <a:solidFill>
                  <a:srgbClr val="3D455E"/>
                </a:solidFill>
              </a:rPr>
              <a:t>匹配该类别下的未来活动进行推荐</a:t>
            </a:r>
            <a:endParaRPr sz="13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ER图与关系模式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5A5"/>
                </a:solidFill>
              </a:defRPr>
            </a:pPr>
            <a:r>
              <a:t>实体关系与视图逻辑结构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ER图与关系模式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6400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858000" cy="493776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4F6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743200"/>
            <a:ext cx="3455035" cy="2030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rPr sz="1800" b="1"/>
              <a:t>11张表实体关系说明：</a:t>
            </a:r>
            <a:br>
              <a:rPr sz="1800" b="1"/>
            </a:br>
            <a:r>
              <a:rPr sz="1800" b="1"/>
              <a:t>校区 1─N 建筑 1─N 设施</a:t>
            </a:r>
            <a:br>
              <a:rPr sz="1800" b="1"/>
            </a:br>
            <a:r>
              <a:rPr sz="1800" b="1"/>
              <a:t>院系 1─N 课程 M─N 教师</a:t>
            </a:r>
            <a:br>
              <a:rPr sz="1800" b="1"/>
            </a:br>
            <a:r>
              <a:rPr sz="1800" b="1"/>
              <a:t>  （通过 course_teacher 关联表）</a:t>
            </a:r>
            <a:br>
              <a:rPr sz="1800" b="1"/>
            </a:br>
            <a:r>
              <a:rPr sz="1800" b="1"/>
              <a:t>院系 1─N 教师</a:t>
            </a:r>
            <a:br>
              <a:rPr sz="1800" b="1"/>
            </a:br>
            <a:r>
              <a:rPr sz="1800" b="1"/>
              <a:t>用户 1─N 查询记录 1─1 统计缓存</a:t>
            </a:r>
            <a:br>
              <a:rPr sz="1800" b="1"/>
            </a:br>
            <a:r>
              <a:rPr sz="1800" b="1"/>
              <a:t>基础表达到 3NF 范式</a:t>
            </a:r>
            <a:endParaRPr sz="18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主键·外键·约束·索引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5A5"/>
                </a:solidFill>
              </a:defRPr>
            </a:pPr>
            <a:r>
              <a:t>全面而细致的完整性设计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约束体系详览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主键设计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自增INT主键保证记录唯一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course_teacher复合主键(course_id,teacher_id,semester)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13322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外键与级联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building.campus_id-&gt;campus(RESTRICT)防误删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facility.building_id-&gt;building(CASCADE)级联删除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event-&gt;campus/building(SET NULL)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2623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CHECK约束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credits BETWEEN 0 AND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grade REGEXP正则校验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email/latitude/longitude/floors范围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14800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索引优化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72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8个显式索引加速查询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29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uk_date_category唯一复合UPSERT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486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idx_event_category_time复合索引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关键SQL查询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5A5"/>
                </a:solidFill>
              </a:defRPr>
            </a:pPr>
            <a:r>
              <a:t>六类查询覆盖课程核心知识点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SQL: 多表连接与聚合统计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① 多表连接：邯郸校区建筑及设施数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029200" cy="2743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4805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SELECT b.name AS building,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  COUNT(f.facility_id) AS facility_count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FROM building b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LEFT JOIN facility f ON b.building_id=f.building_id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JOIN campus c ON b.campus_id=c.campus_id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WHERE c.name='邯郸校区'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GROUP BY b.building_id;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LEFT JOIN保证</a:t>
            </a:r>
            <a:r>
              <a:rPr sz="1300">
                <a:solidFill>
                  <a:srgbClr val="3D455E"/>
                </a:solidFill>
              </a:rPr>
              <a:t>无设施的建筑物也显示COUNT=0</a:t>
            </a:r>
            <a:endParaRPr sz="1300">
              <a:solidFill>
                <a:srgbClr val="3D455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② 聚合统计：各院系课程数量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2011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480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SELECT d.name AS department,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  COUNT(c.course_id) AS course_count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FROM department d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LEFT JOIN course c ON d.department_id=c.department_id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GROUP BY d.department_id;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LEFT JOIN+GROUP BY</a:t>
            </a:r>
            <a:r>
              <a:rPr sz="1300">
                <a:solidFill>
                  <a:srgbClr val="3D455E"/>
                </a:solidFill>
              </a:rPr>
              <a:t>无课程的院系显示为0</a:t>
            </a:r>
            <a:endParaRPr sz="13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SQL: 业务分析与时间范围查询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③ 近30天热门查询类别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029200" cy="2286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480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SELECT category,COUNT(*) AS query_count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FROM query_record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WHERE query_time&gt;=DATE_SUB(NOW(),INTERVAL 30 DAY)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GROUP BY category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ORDER BY query_count DESC LIMIT 10;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D455E"/>
                </a:solidFill>
              </a:defRPr>
            </a:pPr>
            <a:r>
              <a:t>▸ DATE_SUB自动过滤+ORDER BY DESC TOP10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④ 未来一周举办的活动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2286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480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SELECT name,event_time,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  location_desc,organizer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FROM event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WHERE event_time BETWEEN NOW()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  AND DATE_ADD(NOW(),INTERVAL 7 DAY)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ORDER BY event_time;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D455E"/>
                </a:solidFill>
              </a:defRPr>
            </a:pPr>
            <a:r>
              <a:t>▸ BETWEEN+NOW()实时筛选未来活动并按时间排序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SQL: 视图封装与约束验证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⑤ 视图封装分析查询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029200" cy="2743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4805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-- 前端直接查询一行搞定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SELECT * FROM v_popular_query_categories;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-- 返回示例：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-- 建筑 | 50次 | 8用户 | 25.00%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-- 课程 | 35次 | 6用户 | 17.50%</a:t>
            </a:r>
          </a:p>
          <a:p>
            <a:pPr>
              <a:spcAft>
                <a:spcPts val="200"/>
              </a:spcAft>
              <a:defRPr sz="1200">
                <a:solidFill>
                  <a:srgbClr val="1E243B"/>
                </a:solidFill>
                <a:latin typeface="Consolas" panose="020B0609020204030204"/>
              </a:defRPr>
            </a:pPr>
            <a:r>
              <a:t>-- 活动 | 28次 | 5用户 | 14.00%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6FDA"/>
                </a:solidFill>
              </a:rPr>
              <a:t>▸ 封装优势</a:t>
            </a:r>
            <a:r>
              <a:rPr sz="1300">
                <a:solidFill>
                  <a:srgbClr val="3D455E"/>
                </a:solidFill>
              </a:rPr>
              <a:t>复杂聚合对前端透明，业务变化只改视图</a:t>
            </a:r>
            <a:endParaRPr sz="1300">
              <a:solidFill>
                <a:srgbClr val="3D455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F6FDA"/>
                </a:solidFill>
              </a:defRPr>
            </a:pPr>
            <a:r>
              <a:t>⑥ 约束验证测试SQL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4805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-- 学分超范围（应被拒绝）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INSERT INTO course VALUES(NULL,'测试',1,25.0);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-- CHECK constraint failed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-- 年级格式错误（应被拒绝）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INSERT INTO user VALUES(NULL,'t','测试','大二',...);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-- CHECK constraint failed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-- 外键不存在（应被拒绝）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INSERT INTO building VALUES(NULL,'幽灵楼',999);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-- FOREIGN KEY failed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系统功能演示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5A5"/>
                </a:solidFill>
              </a:defRPr>
            </a:pPr>
            <a:r>
              <a:t>分类浏览 / 智能问答 / 个性化推荐 / 数据分析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首页概览与智能问答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865" y="919480"/>
            <a:ext cx="4117975" cy="586803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6766560" cy="219456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886200"/>
            <a:ext cx="6492240" cy="168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4F6FDA"/>
                </a:solidFill>
              </a:rPr>
              <a:t>自然语言输入：</a:t>
            </a:r>
            <a:r>
              <a:rPr sz="1400">
                <a:solidFill>
                  <a:srgbClr val="3D455E"/>
                </a:solidFill>
              </a:rPr>
              <a:t>「复旦有哪些食堂？」等日常问题直接提问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6FDA"/>
                </a:solidFill>
              </a:rPr>
              <a:t>规则+AI双重识别：</a:t>
            </a:r>
            <a:r>
              <a:rPr sz="1400">
                <a:solidFill>
                  <a:srgbClr val="3D455E"/>
                </a:solidFill>
              </a:rPr>
              <a:t>通义千问API进行意图识别和SQL生成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6FDA"/>
                </a:solidFill>
              </a:rPr>
              <a:t>自动生成SQL：</a:t>
            </a:r>
            <a:r>
              <a:rPr sz="1400">
                <a:solidFill>
                  <a:srgbClr val="3D455E"/>
                </a:solidFill>
              </a:rPr>
              <a:t>执行查询并返回表格结构的结果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6FDA"/>
                </a:solidFill>
              </a:rPr>
              <a:t>快速搜索框：</a:t>
            </a:r>
            <a:r>
              <a:rPr sz="1400">
                <a:solidFill>
                  <a:srgbClr val="3D455E"/>
                </a:solidFill>
              </a:rPr>
              <a:t>一站式检索建筑/设施/课程/教师/活动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6FDA"/>
                </a:solidFill>
              </a:rPr>
              <a:t>推荐板块：</a:t>
            </a:r>
            <a:r>
              <a:rPr sz="1400">
                <a:solidFill>
                  <a:srgbClr val="3D455E"/>
                </a:solidFill>
              </a:rPr>
              <a:t>基于查询历史的个性化推荐卡片</a:t>
            </a:r>
            <a:endParaRPr sz="14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NL2SQL 提示词设计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4384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F6FDA"/>
                </a:solidFill>
              </a:defRPr>
            </a:pPr>
            <a:r>
              <a:t>AINaturalLanguageService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400800" cy="41148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852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构建提示词模板包含：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1. 完整数据库表结构定义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2. 校区名称到ID映射关系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3. 课程分类知识库（数学类=高等代数/数学分析等）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4. 要求返回严格JSON格式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用户问「复旦有哪些食堂？」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返回JSON：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{"sql":"SELECT f.name,b.name AS building_name,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c.name AS campus_name FROM facility f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LEFT JOIN building b ON f.building_id=b.building_id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LEFT JOIN campus c ON b.campus_id=c.campus_id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WHERE f.type=食堂","query_category":"FACILITY_CANTEEN"}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结构化Schema描述</a:t>
            </a:r>
            <a:r>
              <a:rPr sz="1400">
                <a:solidFill>
                  <a:srgbClr val="3D455E"/>
                </a:solidFill>
              </a:rPr>
              <a:t>让AI准确理解数据库字段含义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query_category分类</a:t>
            </a:r>
            <a:r>
              <a:rPr sz="1400">
                <a:solidFill>
                  <a:srgbClr val="3D455E"/>
                </a:solidFill>
              </a:rPr>
              <a:t>FACILITY_CANTEEN/BUILDING/COURSE/EVENT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降级机制</a:t>
            </a:r>
            <a:r>
              <a:rPr sz="1400">
                <a:solidFill>
                  <a:srgbClr val="3D455E"/>
                </a:solidFill>
              </a:rPr>
              <a:t>AI API调用失败时降级到规则匹配</a:t>
            </a:r>
            <a:endParaRPr sz="1400">
              <a:solidFill>
                <a:srgbClr val="3D455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六大功能模块一览</a:t>
            </a:r>
          </a:p>
        </p:txBody>
      </p:sp>
      <p:sp>
        <p:nvSpPr>
          <p:cNvPr id="49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24</a:t>
            </a:r>
          </a:p>
        </p:txBody>
      </p:sp>
      <p:sp>
        <p:nvSpPr>
          <p:cNvPr id="50" name="Rounded Rectangle 5"/>
          <p:cNvSpPr/>
          <p:nvPr>
            <p:custDataLst>
              <p:tags r:id="rId1"/>
            </p:custDataLst>
          </p:nvPr>
        </p:nvSpPr>
        <p:spPr>
          <a:xfrm>
            <a:off x="628015" y="1188720"/>
            <a:ext cx="3395345" cy="178308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7"/>
          <p:cNvSpPr/>
          <p:nvPr>
            <p:custDataLst>
              <p:tags r:id="rId3"/>
            </p:custDataLst>
          </p:nvPr>
        </p:nvSpPr>
        <p:spPr>
          <a:xfrm>
            <a:off x="914400" y="3087370"/>
            <a:ext cx="2834640" cy="411480"/>
          </a:xfrm>
          <a:prstGeom prst="round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8"/>
          <p:cNvSpPr txBox="1"/>
          <p:nvPr>
            <p:custDataLst>
              <p:tags r:id="rId4"/>
            </p:custDataLst>
          </p:nvPr>
        </p:nvSpPr>
        <p:spPr>
          <a:xfrm>
            <a:off x="960120" y="3123946"/>
            <a:ext cx="2743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校区建筑</a:t>
            </a:r>
          </a:p>
        </p:txBody>
      </p:sp>
      <p:sp>
        <p:nvSpPr>
          <p:cNvPr id="54" name="Rounded Rectangle 9"/>
          <p:cNvSpPr/>
          <p:nvPr>
            <p:custDataLst>
              <p:tags r:id="rId5"/>
            </p:custDataLst>
          </p:nvPr>
        </p:nvSpPr>
        <p:spPr>
          <a:xfrm>
            <a:off x="4290695" y="1188720"/>
            <a:ext cx="3305810" cy="181356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11"/>
          <p:cNvSpPr/>
          <p:nvPr>
            <p:custDataLst>
              <p:tags r:id="rId7"/>
            </p:custDataLst>
          </p:nvPr>
        </p:nvSpPr>
        <p:spPr>
          <a:xfrm>
            <a:off x="4541520" y="3088005"/>
            <a:ext cx="28346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12"/>
          <p:cNvSpPr txBox="1"/>
          <p:nvPr>
            <p:custDataLst>
              <p:tags r:id="rId8"/>
            </p:custDataLst>
          </p:nvPr>
        </p:nvSpPr>
        <p:spPr>
          <a:xfrm>
            <a:off x="4587240" y="3124581"/>
            <a:ext cx="2743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校园设施</a:t>
            </a:r>
          </a:p>
        </p:txBody>
      </p:sp>
      <p:sp>
        <p:nvSpPr>
          <p:cNvPr id="58" name="Rounded Rectangle 13"/>
          <p:cNvSpPr/>
          <p:nvPr>
            <p:custDataLst>
              <p:tags r:id="rId9"/>
            </p:custDataLst>
          </p:nvPr>
        </p:nvSpPr>
        <p:spPr>
          <a:xfrm>
            <a:off x="7863840" y="1188720"/>
            <a:ext cx="3383280" cy="1814195"/>
          </a:xfrm>
          <a:prstGeom prst="roundRect">
            <a:avLst/>
          </a:prstGeom>
          <a:blipFill rotWithShape="1">
            <a:blip r:embed="rId10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15"/>
          <p:cNvSpPr/>
          <p:nvPr>
            <p:custDataLst>
              <p:tags r:id="rId11"/>
            </p:custDataLst>
          </p:nvPr>
        </p:nvSpPr>
        <p:spPr>
          <a:xfrm>
            <a:off x="8168640" y="3088640"/>
            <a:ext cx="2834640" cy="411480"/>
          </a:xfrm>
          <a:prstGeom prst="round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16"/>
          <p:cNvSpPr txBox="1"/>
          <p:nvPr>
            <p:custDataLst>
              <p:tags r:id="rId12"/>
            </p:custDataLst>
          </p:nvPr>
        </p:nvSpPr>
        <p:spPr>
          <a:xfrm>
            <a:off x="8214360" y="3125216"/>
            <a:ext cx="2743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课程教师</a:t>
            </a:r>
          </a:p>
        </p:txBody>
      </p:sp>
      <p:sp>
        <p:nvSpPr>
          <p:cNvPr id="62" name="Rounded Rectangle 17"/>
          <p:cNvSpPr/>
          <p:nvPr>
            <p:custDataLst>
              <p:tags r:id="rId13"/>
            </p:custDataLst>
          </p:nvPr>
        </p:nvSpPr>
        <p:spPr>
          <a:xfrm>
            <a:off x="640080" y="3794760"/>
            <a:ext cx="3383280" cy="1781810"/>
          </a:xfrm>
          <a:prstGeom prst="roundRect">
            <a:avLst/>
          </a:prstGeom>
          <a:blipFill rotWithShape="1">
            <a:blip r:embed="rId14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19"/>
          <p:cNvSpPr/>
          <p:nvPr>
            <p:custDataLst>
              <p:tags r:id="rId15"/>
            </p:custDataLst>
          </p:nvPr>
        </p:nvSpPr>
        <p:spPr>
          <a:xfrm>
            <a:off x="914400" y="5656580"/>
            <a:ext cx="28346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20"/>
          <p:cNvSpPr txBox="1"/>
          <p:nvPr>
            <p:custDataLst>
              <p:tags r:id="rId16"/>
            </p:custDataLst>
          </p:nvPr>
        </p:nvSpPr>
        <p:spPr>
          <a:xfrm>
            <a:off x="960120" y="5693156"/>
            <a:ext cx="2743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校园活动</a:t>
            </a:r>
          </a:p>
        </p:txBody>
      </p:sp>
      <p:sp>
        <p:nvSpPr>
          <p:cNvPr id="66" name="Rounded Rectangle 21"/>
          <p:cNvSpPr/>
          <p:nvPr>
            <p:custDataLst>
              <p:tags r:id="rId17"/>
            </p:custDataLst>
          </p:nvPr>
        </p:nvSpPr>
        <p:spPr>
          <a:xfrm>
            <a:off x="4251960" y="3794760"/>
            <a:ext cx="3383280" cy="1781810"/>
          </a:xfrm>
          <a:prstGeom prst="roundRect">
            <a:avLst/>
          </a:prstGeom>
          <a:blipFill rotWithShape="1">
            <a:blip r:embed="rId18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23"/>
          <p:cNvSpPr/>
          <p:nvPr>
            <p:custDataLst>
              <p:tags r:id="rId19"/>
            </p:custDataLst>
          </p:nvPr>
        </p:nvSpPr>
        <p:spPr>
          <a:xfrm>
            <a:off x="4507865" y="5656580"/>
            <a:ext cx="2834640" cy="411480"/>
          </a:xfrm>
          <a:prstGeom prst="round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24"/>
          <p:cNvSpPr txBox="1"/>
          <p:nvPr>
            <p:custDataLst>
              <p:tags r:id="rId20"/>
            </p:custDataLst>
          </p:nvPr>
        </p:nvSpPr>
        <p:spPr>
          <a:xfrm>
            <a:off x="4553585" y="5693156"/>
            <a:ext cx="2743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个人中心</a:t>
            </a:r>
          </a:p>
        </p:txBody>
      </p:sp>
      <p:sp>
        <p:nvSpPr>
          <p:cNvPr id="70" name="Rounded Rectangle 25"/>
          <p:cNvSpPr/>
          <p:nvPr>
            <p:custDataLst>
              <p:tags r:id="rId21"/>
            </p:custDataLst>
          </p:nvPr>
        </p:nvSpPr>
        <p:spPr>
          <a:xfrm>
            <a:off x="7863840" y="3794760"/>
            <a:ext cx="3383280" cy="1781175"/>
          </a:xfrm>
          <a:prstGeom prst="roundRect">
            <a:avLst/>
          </a:prstGeom>
          <a:blipFill rotWithShape="1">
            <a:blip r:embed="rId22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27"/>
          <p:cNvSpPr/>
          <p:nvPr>
            <p:custDataLst>
              <p:tags r:id="rId23"/>
            </p:custDataLst>
          </p:nvPr>
        </p:nvSpPr>
        <p:spPr>
          <a:xfrm>
            <a:off x="8119745" y="5656580"/>
            <a:ext cx="28346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28"/>
          <p:cNvSpPr txBox="1"/>
          <p:nvPr>
            <p:custDataLst>
              <p:tags r:id="rId24"/>
            </p:custDataLst>
          </p:nvPr>
        </p:nvSpPr>
        <p:spPr>
          <a:xfrm>
            <a:off x="8165465" y="5693156"/>
            <a:ext cx="2743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管理后台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个性化推荐算法流程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6217920" cy="41148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160" y="1463040"/>
            <a:ext cx="56692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RecommendationService.getRecommendations(userId) {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if (userId==null) return getDefault();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recent=repo.findRecent(userId,10);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if (recent.isEmpty()) return getDefault();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Map&lt;cat,count&gt; cts=new LinkedHashMap&lt;&gt;();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for (row: recent) {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  cat=mapChineseCategory(row); cts.merge(cat,1,Long::sum);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top=sortDesc(cts).limit(3);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for (cat: top) result.add(createFromCategory(cat));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return result;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LinkedHashMap保持有序按频率降序</a:t>
            </a:r>
            <a:r>
              <a:rPr sz="1400">
                <a:solidFill>
                  <a:srgbClr val="3D455E"/>
                </a:solidFill>
              </a:rPr>
              <a:t>mapChineseCategory中文映射为枚举（食堂-&gt;FACILITY_CANTEEN）</a:t>
            </a:r>
            <a:endParaRPr sz="14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  <a:defRPr sz="1400">
                <a:solidFill>
                  <a:srgbClr val="3D455E"/>
                </a:solidFill>
              </a:defRPr>
            </a:pPr>
            <a:r>
              <a:t>▸ createFromCategory按switch-case匹配推荐内容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默认推荐策略与前端交互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943600" cy="32004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875" y="1465580"/>
            <a:ext cx="4471035" cy="16249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getDefaultRecommendations() {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return [{category:'FACILITY_CANTEEN',</a:t>
            </a:r>
          </a:p>
          <a:p>
            <a:pPr marL="457200" lvl="1" indent="457200"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title:'热门食堂推荐',targetPage:'facility'},</a:t>
            </a:r>
          </a:p>
          <a:p>
            <a:pPr lvl="1"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  {category:'EVENT',</a:t>
            </a:r>
          </a:p>
          <a:p>
            <a:pPr lvl="1" indent="457200"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title:'近期校园活动',targetPage:'event'},</a:t>
            </a:r>
          </a:p>
          <a:p>
            <a:pPr lvl="1"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    {category:'FACILITY_LIBRARY',</a:t>
            </a:r>
          </a:p>
          <a:p>
            <a:pPr lvl="1" indent="457200"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title:'图书馆自习室',targetPage:'facility'}];</a:t>
            </a:r>
          </a:p>
          <a:p>
            <a:pPr>
              <a:spcAft>
                <a:spcPts val="200"/>
              </a:spcAft>
              <a:defRPr sz="1100">
                <a:solidFill>
                  <a:srgbClr val="1E243B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F6FDA"/>
                </a:solidFill>
              </a:rPr>
              <a:t>▸ 冷启动策略</a:t>
            </a:r>
            <a:r>
              <a:rPr sz="1400">
                <a:solidFill>
                  <a:srgbClr val="3D455E"/>
                </a:solidFill>
              </a:rPr>
              <a:t>无历史时展示全局热门推荐，后端异常时自动fallback</a:t>
            </a:r>
            <a:endParaRPr sz="1400">
              <a:solidFill>
                <a:srgbClr val="3D455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0" y="1188720"/>
            <a:ext cx="4846320" cy="320040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数据分析栏目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5A5"/>
                </a:solidFill>
              </a:defRPr>
            </a:pPr>
            <a:r>
              <a:t>4个维度 / ECharts可视化 / 数据库驱动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数据分析四维度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查询趋势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ECharts双轴折线图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每日查询次数+独立用户数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支持7/15/30天切换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基于v_daily_query_trend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71600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热门类别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频次+占比+独立用户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进度条展示热度差异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基于v_popular_query_categories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490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19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活跃用户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1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TOP10总查询次数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4631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探索类别数+1-5星评分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0351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基于v_active_users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490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19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校区设施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8911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四校区建筑与设施数量对比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84631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设施密度分析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303519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基于v_campus_facility_popularity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ECharts 折线图实现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320040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00175"/>
            <a:ext cx="47548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// AnalyticsView.vue 核心代码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const loadDailyTrend=async()=&gt;{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const resp=await fetch(`/api/statistics/daily-trend?days=${d}`);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dailyTrend.value=await resp.json(); renderTrendChart();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const renderTrendChart=()=&gt;{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trendChart=echarts.init(ref);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const sorted=dailyTrend.sort((a,b)=&gt;new Date(a.date)-new Date(b.date));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const option={xAxis:{data:dates},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series:[{name:'查询次数',type:'line',smooth:true,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data:counts,areaStyle:{opacity:0.3}},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{name:'独立用户数',type:'line',smooth:true,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    data:uniqueUsers,areaStyle:{opacity:0.3}}]};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  trendChart.setOption(option);</a:t>
            </a:r>
          </a:p>
          <a:p>
            <a:pPr>
              <a:spcAft>
                <a:spcPts val="200"/>
              </a:spcAft>
              <a:defRPr sz="1000">
                <a:solidFill>
                  <a:srgbClr val="1E243B"/>
                </a:solidFill>
                <a:latin typeface="Consolas" panose="020B0609020204030204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完整数据链路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7899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F6FDA"/>
                </a:solidFill>
              </a:rPr>
              <a:t>▸ ① 实时写入</a:t>
            </a:r>
            <a:r>
              <a:rPr sz="1500">
                <a:solidFill>
                  <a:srgbClr val="3D455E"/>
                </a:solidFill>
              </a:rPr>
              <a:t>用户查询-&gt;query_record记录（含category/used_nl2sql等字段）</a:t>
            </a:r>
            <a:endParaRPr sz="15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F6FDA"/>
                </a:solidFill>
              </a:rPr>
              <a:t>▸ ② 触发器更新</a:t>
            </a:r>
            <a:r>
              <a:rPr sz="1500">
                <a:solidFill>
                  <a:srgbClr val="3D455E"/>
                </a:solidFill>
              </a:rPr>
              <a:t>trg_after_query_insert-&gt;query_statistics_cache当日统计+1</a:t>
            </a:r>
            <a:endParaRPr sz="15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F6FDA"/>
                </a:solidFill>
              </a:rPr>
              <a:t>▸ ③ 定时批量汇总</a:t>
            </a:r>
            <a:r>
              <a:rPr sz="1500">
                <a:solidFill>
                  <a:srgbClr val="3D455E"/>
                </a:solidFill>
              </a:rPr>
              <a:t>evt_daily_statistics_update(每日00:00)调用存储过程游标遍历</a:t>
            </a:r>
            <a:endParaRPr sz="15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F6FDA"/>
                </a:solidFill>
              </a:rPr>
              <a:t>▸ ④ 视图查询</a:t>
            </a:r>
            <a:r>
              <a:rPr sz="1500">
                <a:solidFill>
                  <a:srgbClr val="3D455E"/>
                </a:solidFill>
              </a:rPr>
              <a:t>前端SELECT * FROM v_xxx，避免原始表全表扫描</a:t>
            </a:r>
            <a:endParaRPr sz="1500">
              <a:solidFill>
                <a:srgbClr val="3D455E"/>
              </a:solidFill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F6FDA"/>
                </a:solidFill>
              </a:rPr>
              <a:t>▸ ⑤ 前端可视化</a:t>
            </a:r>
            <a:r>
              <a:rPr sz="1500">
                <a:solidFill>
                  <a:srgbClr val="3D455E"/>
                </a:solidFill>
              </a:rPr>
              <a:t>ECharts接收视图数据渲染折线图/排行榜/进度条</a:t>
            </a:r>
            <a:endParaRPr sz="1500">
              <a:solidFill>
                <a:srgbClr val="3D455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" y="148336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6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651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243B"/>
                </a:solidFill>
              </a:defRPr>
            </a:pPr>
            <a:r>
              <a:t>用户查询操作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491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D455E"/>
                </a:solidFill>
              </a:defRPr>
            </a:pPr>
            <a:r>
              <a:t>前端页面提交查询请求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83360"/>
            <a:ext cx="2743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55651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243B"/>
                </a:solidFill>
              </a:defRPr>
            </a:pPr>
            <a:r>
              <a:t>Controller / Service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4912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D455E"/>
                </a:solidFill>
              </a:defRPr>
            </a:pPr>
            <a:r>
              <a:t>接收请求，调用查询逻辑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148336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55651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243B"/>
                </a:solidFill>
              </a:defRPr>
            </a:pPr>
            <a:r>
              <a:t>query_record 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8491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D455E"/>
                </a:solidFill>
              </a:defRPr>
            </a:pPr>
            <a:r>
              <a:t>记录查询类别/时间/用户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03320" y="180340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5160" y="180340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49040" y="1483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B95A5"/>
                </a:solidFill>
              </a:defRPr>
            </a:pPr>
            <a:r>
              <a:t>请求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483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B95A5"/>
                </a:solidFill>
              </a:defRPr>
            </a:pPr>
            <a:r>
              <a:t>INSERT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443480"/>
            <a:ext cx="3200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51663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⚡ trg_after_query_insert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8092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D455E"/>
                </a:solidFill>
              </a:defRPr>
            </a:pPr>
            <a:r>
              <a:t>自动更新 query_statistics_cache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2443480"/>
            <a:ext cx="3200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51663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⏰ evt_daily_statistics_update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8092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D455E"/>
                </a:solidFill>
              </a:defRPr>
            </a:pPr>
            <a:r>
              <a:t>每日00:00汇总前一日完整统计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2443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51663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5个分析视图 v_xxx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80924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D455E"/>
                </a:solidFill>
              </a:defRPr>
            </a:pPr>
            <a:r>
              <a:t>前端 SELECT * 直接调用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77440" y="2169160"/>
            <a:ext cx="0" cy="27432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77840" y="2169160"/>
            <a:ext cx="0" cy="27432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8240" y="2169160"/>
            <a:ext cx="0" cy="27432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2763520"/>
            <a:ext cx="36576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46720" y="244348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B95A5"/>
                </a:solidFill>
              </a:defRPr>
            </a:pPr>
            <a:r>
              <a:t>查询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2207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最终效果：前端 ECharts 展示折线图/排行榜/进度条等可视化图表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自我测试与边界处理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791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数据库约束测试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credits=25课程-&gt;CHECK约束拒绝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grade=大二用户-&gt;正则校验拒绝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campus_id=999建筑-&gt;外键约束拒绝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功能测试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各模块页面数据加载与交互全覆盖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NL2SQL多类查询场景测试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推荐数据准确性验证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00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管理后台CRUD+CSV导入测试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F6FDA"/>
                </a:solidFill>
              </a:defRPr>
            </a:pPr>
            <a:r>
              <a:t>边界处理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空搜索-&gt;空状态友好提示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新用户无历史-&gt;冷启动默认推荐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NL2SQL接口失败-&gt;降级规则匹配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D455E"/>
                </a:solidFill>
              </a:defRPr>
            </a:pPr>
            <a:r>
              <a:t>• 非管理员用户-&gt;拒绝访问后台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遇到的问题与解决思路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10972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2653665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 NL2SQL课程分类精细识别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916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</a:defRPr>
            </a:pPr>
            <a:r>
              <a:t>⚠ 规则匹配只能识别精确关键词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✅ AI提示词加入课程知识库+多维度LIKE模糊匹配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26080"/>
            <a:ext cx="10972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17520"/>
            <a:ext cx="1920240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个性化推荐冷启动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</a:defRPr>
            </a:pPr>
            <a:r>
              <a:t>⚠ 新用户无查询历史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✅ 全局热门推荐兜底+后端异常自动fallback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63440"/>
            <a:ext cx="10972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54880"/>
            <a:ext cx="2310765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F6FDA"/>
                </a:solidFill>
              </a:defRPr>
            </a:pPr>
            <a:r>
              <a:t> CSV批量导入中文乱码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66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</a:defRPr>
            </a:pPr>
            <a:r>
              <a:t>⚠ Excel导出编码不一致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5778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✅ 统一UTF-8编码+数据库强制utf8mb4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43B"/>
                </a:solidFill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43B"/>
                </a:solidFill>
              </a:defRPr>
            </a:pPr>
            <a:r>
              <a:t>项目成果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34</a:t>
            </a:r>
          </a:p>
        </p:txBody>
      </p:sp>
      <p:sp>
        <p:nvSpPr>
          <p:cNvPr id="6" name="Oval 5"/>
          <p:cNvSpPr/>
          <p:nvPr>
            <p:custDataLst>
              <p:tags r:id="rId1"/>
            </p:custDataLst>
          </p:nvPr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46304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243B"/>
                </a:solidFill>
              </a:defRPr>
            </a:pPr>
            <a:r>
              <a:t>规范化数据库设计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63040" y="16002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D455E"/>
                </a:solidFill>
              </a:defRPr>
            </a:pPr>
            <a:r>
              <a:t>11张表+5个分析视图+存储过程/触发器/定时事件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286000"/>
            <a:ext cx="10058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4"/>
            </p:custDataLst>
          </p:nvPr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463040" y="2423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243B"/>
                </a:solidFill>
              </a:defRPr>
            </a:pPr>
            <a:r>
              <a:t>三种查询方式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463040" y="283464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D455E"/>
                </a:solidFill>
              </a:defRPr>
            </a:pPr>
            <a:r>
              <a:t>分类浏览+关键词搜索+自然语言智能问答(NL2SQL)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3520440"/>
            <a:ext cx="10058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>
            <p:custDataLst>
              <p:tags r:id="rId7"/>
            </p:custDataLst>
          </p:nvPr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146304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243B"/>
                </a:solidFill>
              </a:defRPr>
            </a:pPr>
            <a:r>
              <a:t>个性化推荐+数据分析</a:t>
            </a: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1463040" y="406908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D455E"/>
                </a:solidFill>
              </a:defRPr>
            </a:pPr>
            <a:r>
              <a:t>查询历史行为分析实现千人千面推荐，ECharts可视化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754880"/>
            <a:ext cx="10058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>
            <p:custDataLst>
              <p:tags r:id="rId10"/>
            </p:custDataLst>
          </p:nvPr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1463040" y="4892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243B"/>
                </a:solidFill>
              </a:defRPr>
            </a:pPr>
            <a:r>
              <a:t>AI赋能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1463040" y="5303520"/>
            <a:ext cx="330390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D455E"/>
                </a:solidFill>
              </a:defRPr>
            </a:pPr>
            <a:r>
              <a:t>通义大模型实现自然语言到SQL智能转换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3A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3040380" cy="9531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1E243B"/>
                </a:solidFill>
              </a:defRPr>
            </a:pPr>
            <a:r>
              <a:rPr lang="zh-CN"/>
              <a:t>感谢聆听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145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8B95A5"/>
                </a:solidFill>
              </a:defRPr>
            </a:pPr>
            <a:r>
              <a:rPr lang="zh-CN"/>
              <a:t>欢迎各位老师和同学</a:t>
            </a:r>
            <a:r>
              <a:rPr lang="zh-CN"/>
              <a:t>提问交流</a:t>
            </a:r>
            <a:endParaRPr lang="zh-CN"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3D455E"/>
                </a:solidFill>
              </a:defRPr>
            </a:pPr>
            <a:r>
              <a:t>小组成员：洪东浩、马天行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3D455E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2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3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4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5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6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7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8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9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10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11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12.xml><?xml version="1.0" encoding="utf-8"?>
<p:tagLst xmlns:p="http://schemas.openxmlformats.org/presentationml/2006/main">
  <p:tag name="KSO_WM_DIAGRAM_VIRTUALLY_FRAME" val="{&quot;height&quot;:216,&quot;left&quot;:57.6,&quot;top&quot;:273.6,&quot;width&quot;:835.2}"/>
</p:tagLst>
</file>

<file path=ppt/tags/tag13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14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15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16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17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18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19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0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1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2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3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4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5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6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7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8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29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30.xml><?xml version="1.0" encoding="utf-8"?>
<p:tagLst xmlns:p="http://schemas.openxmlformats.org/presentationml/2006/main">
  <p:tag name="KSO_WM_DIAGRAM_VIRTUALLY_FRAME" val="{&quot;height&quot;:392.4,&quot;left&quot;:49.45,&quot;top&quot;:93.6,&quot;width&quot;:836.15}"/>
</p:tagLst>
</file>

<file path=ppt/tags/tag31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2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3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4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5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6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7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8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39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40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41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ags/tag42.xml><?xml version="1.0" encoding="utf-8"?>
<p:tagLst xmlns:p="http://schemas.openxmlformats.org/presentationml/2006/main">
  <p:tag name="KSO_WM_DIAGRAM_VIRTUALLY_FRAME" val="{&quot;height&quot;:370.8,&quot;left&quot;:57.6,&quot;top&quot;:93.6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10444</Words>
  <Application>WPS 演示</Application>
  <PresentationFormat>On-screen Show (4:3)</PresentationFormat>
  <Paragraphs>774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Arial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Lenovo</cp:lastModifiedBy>
  <cp:revision>6</cp:revision>
  <dcterms:created xsi:type="dcterms:W3CDTF">2013-01-27T09:14:00Z</dcterms:created>
  <dcterms:modified xsi:type="dcterms:W3CDTF">2026-06-10T05:27:35Z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948F64B359194D6094F568FEF36C1DEC_12</vt:lpwstr>
  </property>
  <property fmtid="{D5CDD505-2E9C-101B-9397-08002B2CF9AE}" pid="3" name="KSOProductBuildVer">
    <vt:lpwstr>2052-12.1.0.23542</vt:lpwstr>
  </property>
</Properties>
</file>